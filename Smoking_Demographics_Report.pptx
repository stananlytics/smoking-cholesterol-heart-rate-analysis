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Cholesterol by Age Group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Non-Smokers</c:v>
                </c:pt>
              </c:strCache>
            </c:strRef>
          </c:tx>
          <c:spPr>
            <a:solidFill>
              <a:srgbClr val="5EB05C"/>
            </a:solidFill>
            <a:ln w="38100" cap="flat">
              <a:solidFill>
                <a:srgbClr val="5EB0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EB05C"/>
              </a:solidFill>
              <a:ln w="9525" cap="flat">
                <a:solidFill>
                  <a:srgbClr val="5EB0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30</c:v>
                  </c:pt>
                  <c:pt idx="1">
                    <c:v>35</c:v>
                  </c:pt>
                  <c:pt idx="2">
                    <c:v>40</c:v>
                  </c:pt>
                  <c:pt idx="3">
                    <c:v>45</c:v>
                  </c:pt>
                  <c:pt idx="4">
                    <c:v>50</c:v>
                  </c:pt>
                  <c:pt idx="5">
                    <c:v>55</c:v>
                  </c:pt>
                  <c:pt idx="6">
                    <c:v>60</c:v>
                  </c:pt>
                  <c:pt idx="7">
                    <c:v>65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</c:v>
                </c:pt>
                <c:pt idx="1">
                  <c:v>205</c:v>
                </c:pt>
                <c:pt idx="2">
                  <c:v>228</c:v>
                </c:pt>
                <c:pt idx="3">
                  <c:v>233</c:v>
                </c:pt>
                <c:pt idx="4">
                  <c:v>244</c:v>
                </c:pt>
                <c:pt idx="5">
                  <c:v>243</c:v>
                </c:pt>
                <c:pt idx="6">
                  <c:v>242</c:v>
                </c:pt>
                <c:pt idx="7">
                  <c:v>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Smokers</c:v>
                </c:pt>
              </c:strCache>
            </c:strRef>
          </c:tx>
          <c:spPr>
            <a:solidFill>
              <a:srgbClr val="DD6B2E"/>
            </a:solidFill>
            <a:ln w="38100" cap="flat">
              <a:solidFill>
                <a:srgbClr val="DD6B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D6B2E"/>
              </a:solidFill>
              <a:ln w="9525" cap="flat">
                <a:solidFill>
                  <a:srgbClr val="DD6B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30</c:v>
                  </c:pt>
                  <c:pt idx="1">
                    <c:v>35</c:v>
                  </c:pt>
                  <c:pt idx="2">
                    <c:v>40</c:v>
                  </c:pt>
                  <c:pt idx="3">
                    <c:v>45</c:v>
                  </c:pt>
                  <c:pt idx="4">
                    <c:v>50</c:v>
                  </c:pt>
                  <c:pt idx="5">
                    <c:v>55</c:v>
                  </c:pt>
                  <c:pt idx="6">
                    <c:v>60</c:v>
                  </c:pt>
                  <c:pt idx="7">
                    <c:v>65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150</c:v>
                </c:pt>
                <c:pt idx="1">
                  <c:v>213</c:v>
                </c:pt>
                <c:pt idx="2">
                  <c:v>248</c:v>
                </c:pt>
                <c:pt idx="3">
                  <c:v>233</c:v>
                </c:pt>
                <c:pt idx="4">
                  <c:v>210</c:v>
                </c:pt>
                <c:pt idx="5">
                  <c:v>196</c:v>
                </c:pt>
                <c:pt idx="6">
                  <c:v>166</c:v>
                </c:pt>
                <c:pt idx="7">
                  <c:v>140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6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6C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6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9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Heart Rate (bpm)</c:v>
                </c:pt>
              </c:strCache>
            </c:strRef>
          </c:tx>
          <c:spPr>
            <a:solidFill>
              <a:srgbClr val="5EB05C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B0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6B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Non-Smokers</c:v>
                  </c:pt>
                  <c:pt idx="1">
                    <c:v>Smokers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75.01</c:v>
                </c:pt>
                <c:pt idx="1">
                  <c:v>76.38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FB6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8"/>
          <c:min val="73"/>
        </c:scaling>
        <c:delete val="0"/>
        <c:axPos val="l"/>
        <c:majorGridlines>
          <c:spPr>
            <a:ln w="12700" cap="flat">
              <a:solidFill>
                <a:srgbClr val="2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FB6C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93A"/>
        </a:solidFill>
        <a:ln>
          <a:noFill/>
        </a:ln>
        <a:effectLst/>
      </c:spPr>
    </c:plotArea>
    <c:plotVisOnly val="1"/>
    <c:dispBlanksAs val="span"/>
  </c:chart>
  <c:spPr>
    <a:solidFill>
      <a:srgbClr val="1329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3293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291840" cy="3291840"/>
          </a:xfrm>
          <a:prstGeom prst="ellipse">
            <a:avLst/>
          </a:prstGeom>
          <a:solidFill>
            <a:srgbClr val="13293A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892040"/>
            <a:ext cx="457200" cy="457200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240" y="5257800"/>
            <a:ext cx="292608" cy="292608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DEMOGRAPHIC ANALYTICS REPORT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Smoking Demographics Dashboard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and heart-rate patterns across smoking status, age, and gender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2194560" cy="0"/>
          </a:xfrm>
          <a:prstGeom prst="line">
            <a:avLst/>
          </a:prstGeom>
          <a:noFill/>
          <a:ln w="19050">
            <a:solidFill>
              <a:srgbClr val="2344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• Demographic &amp; Cardiovascular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 Shape the Findings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1B3A4B"/>
          </a:solidFill>
          <a:ln w="19050">
            <a:solidFill>
              <a:srgbClr val="5EB0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B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0665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Cholesterol Climbs With Age — Non-Smokers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43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non-smokers, average cholesterol rises steadily with age, reaching its highest point between 50 and 60 years.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828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2084832"/>
            <a:ext cx="566928" cy="566928"/>
          </a:xfrm>
          <a:prstGeom prst="ellipse">
            <a:avLst/>
          </a:prstGeom>
          <a:solidFill>
            <a:srgbClr val="1B3A4B"/>
          </a:solidFill>
          <a:ln w="19050">
            <a:solidFill>
              <a:srgbClr val="DD6B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0665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 Peak, Then Decline — Smokers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743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smokers, cholesterol peaks much earlier — around age 40 — then trends downward through later age groups.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rgbClr val="1B3A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♀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3525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Females Run a Faster Heart Rate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study population, female patients show a higher average heart rate than male patients.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411480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4370832"/>
            <a:ext cx="566928" cy="566928"/>
          </a:xfrm>
          <a:prstGeom prst="ellipse">
            <a:avLst/>
          </a:prstGeom>
          <a:solidFill>
            <a:srgbClr val="1B3A4B"/>
          </a:solidFill>
          <a:ln w="19050">
            <a:solidFill>
              <a:srgbClr val="DD6B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+1.36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3525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Smokers Beat Faster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0292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smokers average 1.36 more heartbeats per minute than non-smokers — a measurable cardiovascular difference.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FULL-POPULATION OVERVIEW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Dashboard View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5488" y="1435608"/>
            <a:ext cx="7735824" cy="4385800"/>
          </a:xfrm>
          <a:prstGeom prst="roundRect">
            <a:avLst>
              <a:gd name="adj" fmla="val 12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mnt/user-data/uploads/178871888888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589520" cy="42394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41080" y="1508760"/>
            <a:ext cx="3001975" cy="1417320"/>
          </a:xfrm>
          <a:prstGeom prst="roundRect">
            <a:avLst>
              <a:gd name="adj" fmla="val 645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69680" y="16916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5EB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42248" y="1801368"/>
            <a:ext cx="2599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236.6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50008"/>
            <a:ext cx="259963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cholesterol level (mg/dL) — all patients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41080" y="3063240"/>
            <a:ext cx="3001975" cy="1417320"/>
          </a:xfrm>
          <a:prstGeom prst="roundRect">
            <a:avLst>
              <a:gd name="adj" fmla="val 645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869680" y="32461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DD6B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42248" y="3355848"/>
            <a:ext cx="2599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75.69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842248" y="3904488"/>
            <a:ext cx="259963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heart rate (bpm) — all patients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41080" y="4617720"/>
            <a:ext cx="3001975" cy="1417320"/>
          </a:xfrm>
          <a:prstGeom prst="roundRect">
            <a:avLst>
              <a:gd name="adj" fmla="val 645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69680" y="480060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842248" y="4910328"/>
            <a:ext cx="25996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 / 51%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842248" y="5458968"/>
            <a:ext cx="259963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 / smoker split across the study sample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Cholesterol, By Group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23748" y="173736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329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8" y="22402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236.6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23748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average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46708" y="3520440"/>
            <a:ext cx="1691640" cy="0"/>
          </a:xfrm>
          <a:prstGeom prst="line">
            <a:avLst/>
          </a:prstGeom>
          <a:noFill/>
          <a:ln w="12700">
            <a:solidFill>
              <a:srgbClr val="2344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3748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Patients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27068" y="173736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3293A"/>
          </a:solidFill>
          <a:ln w="19050">
            <a:solidFill>
              <a:srgbClr val="5EB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7068" y="22402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B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238.6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4427068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average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0028" y="3520440"/>
            <a:ext cx="1691640" cy="0"/>
          </a:xfrm>
          <a:prstGeom prst="line">
            <a:avLst/>
          </a:prstGeom>
          <a:noFill/>
          <a:ln w="12700">
            <a:solidFill>
              <a:srgbClr val="2344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27068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Non-Smokers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0388" y="1737360"/>
            <a:ext cx="3337560" cy="2377440"/>
          </a:xfrm>
          <a:prstGeom prst="roundRect">
            <a:avLst>
              <a:gd name="adj" fmla="val 3846"/>
            </a:avLst>
          </a:prstGeom>
          <a:solidFill>
            <a:srgbClr val="13293A"/>
          </a:solidFill>
          <a:ln w="19050">
            <a:solidFill>
              <a:srgbClr val="DD6B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0388" y="22402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234.5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8130388" y="3154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average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53348" y="3520440"/>
            <a:ext cx="1691640" cy="0"/>
          </a:xfrm>
          <a:prstGeom prst="line">
            <a:avLst/>
          </a:prstGeom>
          <a:noFill/>
          <a:ln w="12700">
            <a:solidFill>
              <a:srgbClr val="2344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0388" y="3611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1B3A4B"/>
          </a:solidFill>
          <a:ln w="15875">
            <a:solidFill>
              <a:srgbClr val="9FB6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71830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04748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averages sit close together — but that similarity hides two very different stories underneath. Non-smokers and smokers follow opposite cholesterol trends as age increases, explored on the following slides.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 — NON-SMOKERS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Non-Smoker Population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5488" y="1435608"/>
            <a:ext cx="7095744" cy="4060862"/>
          </a:xfrm>
          <a:prstGeom prst="roundRect">
            <a:avLst>
              <a:gd name="adj" fmla="val 1351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mnt/user-data/uploads/178871907253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391455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01000" y="1508760"/>
            <a:ext cx="3642055" cy="1188720"/>
          </a:xfrm>
          <a:prstGeom prst="roundRect">
            <a:avLst>
              <a:gd name="adj" fmla="val 769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0" y="16916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5EB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02168" y="1801368"/>
            <a:ext cx="3239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238.6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202168" y="2350008"/>
            <a:ext cx="3239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cholesterol level (mg/dL)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2880360"/>
            <a:ext cx="3642055" cy="1188720"/>
          </a:xfrm>
          <a:prstGeom prst="roundRect">
            <a:avLst>
              <a:gd name="adj" fmla="val 769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0" y="30632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5EB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02168" y="3172968"/>
            <a:ext cx="3239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75.01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202168" y="3721608"/>
            <a:ext cx="3239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heart rate (bpm)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01000" y="4251960"/>
            <a:ext cx="3642055" cy="1691640"/>
          </a:xfrm>
          <a:prstGeom prst="roundRect">
            <a:avLst>
              <a:gd name="adj" fmla="val 4865"/>
            </a:avLst>
          </a:prstGeom>
          <a:solidFill>
            <a:srgbClr val="1B3A4B"/>
          </a:solidFill>
          <a:ln w="15875">
            <a:solidFill>
              <a:srgbClr val="5EB05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02168" y="4398264"/>
            <a:ext cx="3239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B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pattern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02168" y="4727448"/>
            <a:ext cx="323971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rises steadily across age groups, reaching its highest average between 50 and 60 years before tapering slightly.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 — SMOKERS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Smoker Population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5488" y="1435608"/>
            <a:ext cx="7095744" cy="4045638"/>
          </a:xfrm>
          <a:prstGeom prst="roundRect">
            <a:avLst>
              <a:gd name="adj" fmla="val 1356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/mnt/user-data/uploads/178871910927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389933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01000" y="1508760"/>
            <a:ext cx="3642055" cy="1188720"/>
          </a:xfrm>
          <a:prstGeom prst="roundRect">
            <a:avLst>
              <a:gd name="adj" fmla="val 769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0" y="16916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DD6B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02168" y="1801368"/>
            <a:ext cx="3239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234.5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202168" y="2350008"/>
            <a:ext cx="3239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cholesterol level (mg/dL)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2880360"/>
            <a:ext cx="3642055" cy="1188720"/>
          </a:xfrm>
          <a:prstGeom prst="roundRect">
            <a:avLst>
              <a:gd name="adj" fmla="val 7692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0" y="306324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DD6B2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02168" y="3172968"/>
            <a:ext cx="32397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76.38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202168" y="3721608"/>
            <a:ext cx="3239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heart rate (bpm)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01000" y="4251960"/>
            <a:ext cx="3642055" cy="1691640"/>
          </a:xfrm>
          <a:prstGeom prst="roundRect">
            <a:avLst>
              <a:gd name="adj" fmla="val 4865"/>
            </a:avLst>
          </a:prstGeom>
          <a:solidFill>
            <a:srgbClr val="1B3A4B"/>
          </a:solidFill>
          <a:ln w="15875">
            <a:solidFill>
              <a:srgbClr val="DD6B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02168" y="4398264"/>
            <a:ext cx="3239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pattern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02168" y="4727448"/>
            <a:ext cx="323971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peaks early — around age 40 — then declines through the remaining age groups, the reverse of the non-smoker trend.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Cholesterol Trends Diverge With Age</a:t>
            </a:r>
            <a:endParaRPr lang="en-US" sz="3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463040"/>
            <a:ext cx="3413455" cy="1965960"/>
          </a:xfrm>
          <a:prstGeom prst="roundRect">
            <a:avLst>
              <a:gd name="adj" fmla="val 4186"/>
            </a:avLst>
          </a:prstGeom>
          <a:solidFill>
            <a:srgbClr val="1B3A4B"/>
          </a:solidFill>
          <a:ln w="15875">
            <a:solidFill>
              <a:srgbClr val="5EB0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30768" y="1609344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B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Non-smokers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30768" y="1938528"/>
            <a:ext cx="3011119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builds gradually across the lifespan, peaking at 50–60 years — consistent with typical age-related lipid increases.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3566160"/>
            <a:ext cx="3413455" cy="2103120"/>
          </a:xfrm>
          <a:prstGeom prst="roundRect">
            <a:avLst>
              <a:gd name="adj" fmla="val 3913"/>
            </a:avLst>
          </a:prstGeom>
          <a:solidFill>
            <a:srgbClr val="1B3A4B"/>
          </a:solidFill>
          <a:ln w="15875">
            <a:solidFill>
              <a:srgbClr val="DD6B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30768" y="3712464"/>
            <a:ext cx="3011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30768" y="4041648"/>
            <a:ext cx="301111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peaks far earlier, around age 40, then declines — a markedly different trajectory from the non-smoking group.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806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shape reconstructed from the source dashboard visualization to illustrate the trend; treat exact values as approximate.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Smokers Run a Faster Heart Rate</a:t>
            </a:r>
            <a:endParaRPr lang="en-US" sz="3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1554480"/>
            <a:ext cx="4510735" cy="18288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 w="19050">
            <a:solidFill>
              <a:srgbClr val="DD6B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1783080"/>
            <a:ext cx="4510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+1.36</a:t>
            </a:r>
            <a:endParaRPr lang="en-US" sz="52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743200"/>
            <a:ext cx="4053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per minute higher, on average, for smokers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32320" y="3657600"/>
            <a:ext cx="4510735" cy="2103120"/>
          </a:xfrm>
          <a:prstGeom prst="roundRect">
            <a:avLst>
              <a:gd name="adj" fmla="val 3913"/>
            </a:avLst>
          </a:prstGeom>
          <a:solidFill>
            <a:srgbClr val="1B3A4B"/>
          </a:solidFill>
          <a:ln w="15875">
            <a:solidFill>
              <a:srgbClr val="DD6B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33488" y="3803904"/>
            <a:ext cx="41083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33488" y="4133088"/>
            <a:ext cx="410839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current smokers show an increase in heart rate compared to non-smokers, a difference of 1.36 beats per minute — consistent with nicotine's known stimulant effect on the cardiovascular system.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84048"/>
            <a:ext cx="128016" cy="128016"/>
          </a:xfrm>
          <a:prstGeom prst="ellipse">
            <a:avLst/>
          </a:prstGeom>
          <a:solidFill>
            <a:srgbClr val="5EB0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820656" y="3291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27080" y="384048"/>
            <a:ext cx="128016" cy="128016"/>
          </a:xfrm>
          <a:prstGeom prst="ellipse">
            <a:avLst/>
          </a:prstGeom>
          <a:solidFill>
            <a:srgbClr val="DD6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00816" y="3291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Rate Also Varies By Gender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986888" y="1600200"/>
            <a:ext cx="2560320" cy="2560320"/>
          </a:xfrm>
          <a:prstGeom prst="ellipse">
            <a:avLst/>
          </a:prstGeom>
          <a:solidFill>
            <a:srgbClr val="1329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6888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298688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86888" y="4690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heart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44488" y="1600200"/>
            <a:ext cx="2560320" cy="2560320"/>
          </a:xfrm>
          <a:prstGeom prst="ellipse">
            <a:avLst/>
          </a:prstGeom>
          <a:solidFill>
            <a:srgbClr val="13293A"/>
          </a:solidFill>
          <a:ln w="25400">
            <a:solidFill>
              <a:srgbClr val="6E879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4488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FB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64448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44488" y="4690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average heart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B3A4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549554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824728"/>
            <a:ext cx="106920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study population, female patients recorded a higher average heart rate than male patients — a consistent gender-level pattern worth accounting for alongside smoking status.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32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B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Non-smoker cholesterol rises with age, peaking at 50–60 years — a pattern typical of natural, age-related lipid increases.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cholesterol peaks earlier, around age 40, then declines — suggesting a different, front-loaded risk window for younger smokers.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 show a higher average heart rate than male patients across the sample.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average 1.36 more heartbeats per minute than non-smokers, a measurable cardiovascular effect of smoking.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4510735" cy="3291840"/>
          </a:xfrm>
          <a:prstGeom prst="roundRect">
            <a:avLst>
              <a:gd name="adj" fmla="val 2778"/>
            </a:avLst>
          </a:prstGeom>
          <a:solidFill>
            <a:srgbClr val="13293A"/>
          </a:solidFill>
          <a:ln w="12700">
            <a:solidFill>
              <a:srgbClr val="2344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192024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B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423160"/>
            <a:ext cx="40535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cardiovascular screening for smokers under 45.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cholesterol by age cohort, not smoking status alone.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gender-aware baseline heart-rate ranges.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F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smoking cessation to reduce early-onset lipid risk.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7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2026-09-06T18:31:33Z</dcterms:created>
  <dcterms:modified xsi:type="dcterms:W3CDTF">2026-09-06T18:31:33Z</dcterms:modified>
</cp:coreProperties>
</file>